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" cy="137160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FMEA  · 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Failure Mode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 Effects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71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Analysis.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품질은 검사가 아니라 설계된다.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1st Edition  ·  대덕전자 사내강사 교육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548640" cy="0"/>
          </a:xfrm>
          <a:prstGeom prst="line">
            <a:avLst/>
          </a:prstGeom>
          <a:noFill/>
          <a:ln w="12700">
            <a:solidFill>
              <a:srgbClr val="1D1D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572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Pattern 1 / Apple Keynote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71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STEP-BY-STEP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Seven steps.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One closed-loop system.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4340" y="2606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4340" y="29718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기획·준비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9264" y="3520440"/>
            <a:ext cx="73152" cy="73152"/>
          </a:xfrm>
          <a:prstGeom prst="ellipse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3060" y="2606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23060" y="29718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구조분석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157984" y="3520440"/>
            <a:ext cx="73152" cy="73152"/>
          </a:xfrm>
          <a:prstGeom prst="ellipse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1780" y="2606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11780" y="29718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기능분석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346704" y="3520440"/>
            <a:ext cx="73152" cy="73152"/>
          </a:xfrm>
          <a:prstGeom prst="ellipse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0500" y="2606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00500" y="29718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고장분석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35424" y="3520440"/>
            <a:ext cx="73152" cy="73152"/>
          </a:xfrm>
          <a:prstGeom prst="ellipse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89220" y="2606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89220" y="29718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리스크분석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724144" y="3520440"/>
            <a:ext cx="73152" cy="7315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7940" y="2606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77940" y="29718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912864" y="3520440"/>
            <a:ext cx="73152" cy="73152"/>
          </a:xfrm>
          <a:prstGeom prst="ellipse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6660" y="2606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66660" y="29718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문서화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101584" y="3520440"/>
            <a:ext cx="73152" cy="73152"/>
          </a:xfrm>
          <a:prstGeom prst="ellipse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" y="3557016"/>
            <a:ext cx="7955280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RPN을 버리고, AP로 우선순위를 다시 정의했다.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71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8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0" y="1097280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960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신제품·신공정 개발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429768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691640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이슈 발생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429768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2286000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148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변경사항 발생 (4M)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89120" y="2697480"/>
            <a:ext cx="429768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2880360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743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이슈 / 부적합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389120" y="3291840"/>
            <a:ext cx="429768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3474720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337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품질 이슈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389120" y="3886200"/>
            <a:ext cx="429768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4069080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931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법규·규제 변경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71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Three numbers.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하나의 결정.  AP.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140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Severity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심각도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46120" y="21945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4000" dirty="0"/>
          </a:p>
        </p:txBody>
      </p:sp>
      <p:sp>
        <p:nvSpPr>
          <p:cNvPr id="9" name="Text 7"/>
          <p:cNvSpPr/>
          <p:nvPr/>
        </p:nvSpPr>
        <p:spPr>
          <a:xfrm>
            <a:off x="3246120" y="3657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Occurrence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46120" y="3977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21945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4000" dirty="0"/>
          </a:p>
        </p:txBody>
      </p:sp>
      <p:sp>
        <p:nvSpPr>
          <p:cNvPr id="12" name="Text 10"/>
          <p:cNvSpPr/>
          <p:nvPr/>
        </p:nvSpPr>
        <p:spPr>
          <a:xfrm>
            <a:off x="6035040" y="3657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35040" y="3977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54680" y="26517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2D2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943600" y="26517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2D2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AP   High · Medium · Low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71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STUDY  ·  HDI PCB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도금두께 산포.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정류기 한 대를 바꾸자, 모든 것이 바뀌었다.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±7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μm 도금두께 산포 · AP-High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 8  ·  O 5  ·  D 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468880"/>
            <a:ext cx="0" cy="210312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71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6060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71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±2</a:t>
            </a:r>
            <a:endParaRPr lang="en-US" sz="11000" dirty="0"/>
          </a:p>
        </p:txBody>
      </p:sp>
      <p:sp>
        <p:nvSpPr>
          <p:cNvPr id="12" name="Text 10"/>
          <p:cNvSpPr/>
          <p:nvPr/>
        </p:nvSpPr>
        <p:spPr>
          <a:xfrm>
            <a:off x="4846320" y="3886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μm 도금두께 산포 · AP-Low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4206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 8  ·  O 2  ·  D 3   (Cpk 1.67)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457200" cy="365760"/>
          </a:xfrm>
          <a:prstGeom prst="rect">
            <a:avLst/>
          </a:prstGeom>
          <a:solidFill>
            <a:srgbClr val="FDC500"/>
          </a:solidFill>
          <a:ln w="12700">
            <a:solidFill>
              <a:srgbClr val="FDC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TRAINING  ·  CONFIDENTIAL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0" y="960120"/>
            <a:ext cx="1371600" cy="0"/>
          </a:xfrm>
          <a:prstGeom prst="line">
            <a:avLst/>
          </a:prstGeom>
          <a:noFill/>
          <a:ln w="38100">
            <a:solidFill>
              <a:srgbClr val="FDC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80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Strengthening Preventive Quality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 FMEA Excellence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AIAG-VDA FMEA Methodology  |  In-house Instructor Training Program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657600"/>
            <a:ext cx="777240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749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Daeduck Electronics Co., Ltd.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Employees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0" y="3749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AIAG-VDA 1st Ed.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IATF 16949 Core Tool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792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 Planning Division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 / McKinsey Consulting Style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AIAG-VDA 7 STEP APPROACH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D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Daeduck Electronics  ·  QM Group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FDC500"/>
          </a:solidFill>
          <a:ln w="12700">
            <a:solidFill>
              <a:srgbClr val="FDC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AIAG-VDA의 7단계 접근법은 분석을 시스템·고장·소통의 3개 블록으로 구조화하며, AP가 RPN을 대체한다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9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AIAG-VDA FMEA Handbook 1st Ed. | Internal case: HDI PCB plating line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3611880" cy="292608"/>
          </a:xfrm>
          <a:prstGeom prst="rect">
            <a:avLst/>
          </a:prstGeom>
          <a:solidFill>
            <a:srgbClr val="00509D"/>
          </a:solidFill>
          <a:ln w="12700">
            <a:solidFill>
              <a:srgbClr val="0050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173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  ·  SYSTEM ANALYSIS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60520" y="1417320"/>
            <a:ext cx="2423160" cy="29260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4173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  ·  FAILURE &amp; RISK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75120" y="1417320"/>
            <a:ext cx="2011680" cy="292608"/>
          </a:xfrm>
          <a:prstGeom prst="rect">
            <a:avLst/>
          </a:prstGeom>
          <a:solidFill>
            <a:srgbClr val="FDC500"/>
          </a:solidFill>
          <a:ln w="12700">
            <a:solidFill>
              <a:srgbClr val="FDC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417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  ·  COMMUNICATION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828800"/>
            <a:ext cx="1143000" cy="1371600"/>
          </a:xfrm>
          <a:prstGeom prst="rect">
            <a:avLst/>
          </a:prstGeom>
          <a:solidFill>
            <a:srgbClr val="00509D"/>
          </a:solidFill>
          <a:ln w="12700">
            <a:solidFill>
              <a:srgbClr val="00509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9659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7200" y="2468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기획 · 준비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834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D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45920" y="1828800"/>
            <a:ext cx="1143000" cy="1371600"/>
          </a:xfrm>
          <a:prstGeom prst="rect">
            <a:avLst/>
          </a:prstGeom>
          <a:solidFill>
            <a:srgbClr val="00509D"/>
          </a:solidFill>
          <a:ln w="12700">
            <a:solidFill>
              <a:srgbClr val="0050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19659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645920" y="2468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구조분석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45920" y="2834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D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34640" y="1828800"/>
            <a:ext cx="1143000" cy="1371600"/>
          </a:xfrm>
          <a:prstGeom prst="rect">
            <a:avLst/>
          </a:prstGeom>
          <a:solidFill>
            <a:srgbClr val="00509D"/>
          </a:solidFill>
          <a:ln w="12700">
            <a:solidFill>
              <a:srgbClr val="00509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19659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2834640" y="2468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기능분석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2834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D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023360" y="1828800"/>
            <a:ext cx="1143000" cy="137160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19659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4023360" y="2468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고장분석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23360" y="2834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D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12080" y="1828800"/>
            <a:ext cx="1143000" cy="137160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19659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5212080" y="2468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리스크분석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12080" y="2834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D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0" y="1828800"/>
            <a:ext cx="11430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DC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19659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6400800" y="2468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최적화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0" y="2834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89520" y="1828800"/>
            <a:ext cx="11430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DC5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0" y="19659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7589520" y="2468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문서화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589520" y="2834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3520440"/>
            <a:ext cx="73152" cy="1097280"/>
          </a:xfrm>
          <a:prstGeom prst="rect">
            <a:avLst/>
          </a:prstGeom>
          <a:solidFill>
            <a:srgbClr val="FDC500"/>
          </a:solidFill>
          <a:ln w="12700">
            <a:solidFill>
              <a:srgbClr val="FDC5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580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→ AP 전환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replacing risk priority number with a tabulated Action Priority (H/M/L), the framework eliminates compensating-error risk and forces disciplined intervention on every high-severity failure mode.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FRAMEWORK  ·  WHEN TO APPLY FMEA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D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Daeduck Electronics  ·  QM Group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FDC500"/>
          </a:solidFill>
          <a:ln w="12700">
            <a:solidFill>
              <a:srgbClr val="FDC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FMEA의 작성·개정은 6개 트리거 발생 시 의무이며, 각 트리거는 영향 범위와 긴급도에서 차이를 보인다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9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AIAG-VDA FMEA Handbook 1st Ed. | Internal case: HDI PCB plating line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365760" cy="41148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173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2103120" cy="41148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1417320"/>
            <a:ext cx="1188720" cy="41148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1417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1417320"/>
            <a:ext cx="1188720" cy="41148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417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긴급도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3520" y="1417320"/>
            <a:ext cx="3383280" cy="41148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대응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1828800"/>
            <a:ext cx="3657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182880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1828800"/>
            <a:ext cx="21031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1828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신제품·신공정 개발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26080" y="1828800"/>
            <a:ext cx="1188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18288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0" y="1828800"/>
            <a:ext cx="1188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51960" y="1911096"/>
            <a:ext cx="868680" cy="219456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191109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03520" y="1828800"/>
            <a:ext cx="33832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1828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APQP 단계에서 D/PFMEA 신규 작성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2212848"/>
            <a:ext cx="365760" cy="384048"/>
          </a:xfrm>
          <a:prstGeom prst="rect">
            <a:avLst/>
          </a:prstGeom>
          <a:solidFill>
            <a:srgbClr val="F5F7FA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2212848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960" y="2212848"/>
            <a:ext cx="2103120" cy="384048"/>
          </a:xfrm>
          <a:prstGeom prst="rect">
            <a:avLst/>
          </a:prstGeom>
          <a:solidFill>
            <a:srgbClr val="F5F7FA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22128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이슈 발생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926080" y="2212848"/>
            <a:ext cx="1188720" cy="384048"/>
          </a:xfrm>
          <a:prstGeom prst="rect">
            <a:avLst/>
          </a:prstGeom>
          <a:solidFill>
            <a:srgbClr val="F5F7FA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63240" y="22128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114800" y="2212848"/>
            <a:ext cx="1188720" cy="384048"/>
          </a:xfrm>
          <a:prstGeom prst="rect">
            <a:avLst/>
          </a:prstGeom>
          <a:solidFill>
            <a:srgbClr val="F5F7FA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51960" y="2295144"/>
            <a:ext cx="868680" cy="219456"/>
          </a:xfrm>
          <a:prstGeom prst="rect">
            <a:avLst/>
          </a:prstGeom>
          <a:solidFill>
            <a:srgbClr val="FDC500"/>
          </a:solidFill>
          <a:ln w="12700">
            <a:solidFill>
              <a:srgbClr val="FDC5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51960" y="229514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03520" y="2212848"/>
            <a:ext cx="3383280" cy="384048"/>
          </a:xfrm>
          <a:prstGeom prst="rect">
            <a:avLst/>
          </a:prstGeom>
          <a:solidFill>
            <a:srgbClr val="F5F7FA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0680" y="22128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 + 원인분석 후 FMEA 갱신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2596896"/>
            <a:ext cx="3657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2596896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22960" y="2596896"/>
            <a:ext cx="21031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120" y="25968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변경사항 발생 (4M)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926080" y="2596896"/>
            <a:ext cx="1188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63240" y="259689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114800" y="2596896"/>
            <a:ext cx="1188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51960" y="2679192"/>
            <a:ext cx="868680" cy="219456"/>
          </a:xfrm>
          <a:prstGeom prst="rect">
            <a:avLst/>
          </a:prstGeom>
          <a:solidFill>
            <a:srgbClr val="FDC500"/>
          </a:solidFill>
          <a:ln w="12700">
            <a:solidFill>
              <a:srgbClr val="FDC5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51960" y="267919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303520" y="2596896"/>
            <a:ext cx="33832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40680" y="25968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변경관리 절차와 연계 영향분석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7200" y="2980944"/>
            <a:ext cx="365760" cy="384048"/>
          </a:xfrm>
          <a:prstGeom prst="rect">
            <a:avLst/>
          </a:prstGeom>
          <a:solidFill>
            <a:srgbClr val="F5F7FA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2980944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22960" y="2980944"/>
            <a:ext cx="2103120" cy="384048"/>
          </a:xfrm>
          <a:prstGeom prst="rect">
            <a:avLst/>
          </a:prstGeom>
          <a:solidFill>
            <a:srgbClr val="F5F7FA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0120" y="29809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이슈 / 부적합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926080" y="2980944"/>
            <a:ext cx="1188720" cy="384048"/>
          </a:xfrm>
          <a:prstGeom prst="rect">
            <a:avLst/>
          </a:prstGeom>
          <a:solidFill>
            <a:srgbClr val="F5F7FA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63240" y="29809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114800" y="2980944"/>
            <a:ext cx="1188720" cy="384048"/>
          </a:xfrm>
          <a:prstGeom prst="rect">
            <a:avLst/>
          </a:prstGeom>
          <a:solidFill>
            <a:srgbClr val="F5F7FA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51960" y="3063240"/>
            <a:ext cx="868680" cy="21945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51960" y="306324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03520" y="2980944"/>
            <a:ext cx="3383280" cy="384048"/>
          </a:xfrm>
          <a:prstGeom prst="rect">
            <a:avLst/>
          </a:prstGeom>
          <a:solidFill>
            <a:srgbClr val="F5F7FA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40680" y="29809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부적합·수율저하 시 갱신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57200" y="3364992"/>
            <a:ext cx="3657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4360" y="3364992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822960" y="3364992"/>
            <a:ext cx="21031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60120" y="33649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품질 이슈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926080" y="3364992"/>
            <a:ext cx="1188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063240" y="33649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전사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114800" y="3364992"/>
            <a:ext cx="1188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51960" y="3447288"/>
            <a:ext cx="868680" cy="219456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51960" y="344728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303520" y="3364992"/>
            <a:ext cx="33832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40680" y="33649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동일·유사 불량 → 횡전개 일괄 검토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457200" y="3749040"/>
            <a:ext cx="365760" cy="384048"/>
          </a:xfrm>
          <a:prstGeom prst="rect">
            <a:avLst/>
          </a:prstGeom>
          <a:solidFill>
            <a:srgbClr val="F5F7FA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4360" y="374904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822960" y="3749040"/>
            <a:ext cx="2103120" cy="384048"/>
          </a:xfrm>
          <a:prstGeom prst="rect">
            <a:avLst/>
          </a:prstGeom>
          <a:solidFill>
            <a:srgbClr val="F5F7FA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60120" y="3749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법규·규제 변경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2926080" y="3749040"/>
            <a:ext cx="1188720" cy="384048"/>
          </a:xfrm>
          <a:prstGeom prst="rect">
            <a:avLst/>
          </a:prstGeom>
          <a:solidFill>
            <a:srgbClr val="F5F7FA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063240" y="3749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전사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4114800" y="3749040"/>
            <a:ext cx="1188720" cy="384048"/>
          </a:xfrm>
          <a:prstGeom prst="rect">
            <a:avLst/>
          </a:prstGeom>
          <a:solidFill>
            <a:srgbClr val="F5F7FA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251960" y="3831336"/>
            <a:ext cx="868680" cy="219456"/>
          </a:xfrm>
          <a:prstGeom prst="rect">
            <a:avLst/>
          </a:prstGeom>
          <a:solidFill>
            <a:srgbClr val="FDC500"/>
          </a:solidFill>
          <a:ln w="12700">
            <a:solidFill>
              <a:srgbClr val="FDC5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251960" y="383133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303520" y="3749040"/>
            <a:ext cx="3383280" cy="384048"/>
          </a:xfrm>
          <a:prstGeom prst="rect">
            <a:avLst/>
          </a:prstGeom>
          <a:solidFill>
            <a:srgbClr val="F5F7FA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440680" y="3749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REACH·RoHS·IATF 개정 반영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DC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트리거(01·05)는 시스템 전반의 일괄 검토가 요구되며, 단건 개선은 IATF·VDA 감사에서 부적합 판정으로 직결된다.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 ·  AP DECISION MATRIX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D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Daeduck Electronics  ·  QM Group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FDC500"/>
          </a:solidFill>
          <a:ln w="12700">
            <a:solidFill>
              <a:srgbClr val="FDC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Severity(8) 고정 시, Occurrence와 Detection을 동시에 낮춰야 AP가 High에서 Low로 이동한다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9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AIAG-VDA FMEA Handbook 1st Ed. | Internal case: HDI PCB plating line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4114800" cy="29260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173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1417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1417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709928"/>
            <a:ext cx="548640" cy="457200"/>
          </a:xfrm>
          <a:prstGeom prst="rect">
            <a:avLst/>
          </a:prstGeom>
          <a:solidFill>
            <a:srgbClr val="00509D"/>
          </a:solidFill>
          <a:ln w="12700">
            <a:solidFill>
              <a:srgbClr val="0050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7099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05840" y="1709928"/>
            <a:ext cx="25603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17099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고객/후공정에 미치는 영향의 크기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1709928"/>
            <a:ext cx="10058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7099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~ 10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67128"/>
            <a:ext cx="548640" cy="457200"/>
          </a:xfrm>
          <a:prstGeom prst="rect">
            <a:avLst/>
          </a:prstGeom>
          <a:solidFill>
            <a:srgbClr val="00509D"/>
          </a:solidFill>
          <a:ln w="12700">
            <a:solidFill>
              <a:srgbClr val="0050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671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05840" y="2167128"/>
            <a:ext cx="2560320" cy="457200"/>
          </a:xfrm>
          <a:prstGeom prst="rect">
            <a:avLst/>
          </a:prstGeom>
          <a:solidFill>
            <a:srgbClr val="F5F7FA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2167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원인이 고장으로 진행될 빈도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66160" y="2167128"/>
            <a:ext cx="1005840" cy="457200"/>
          </a:xfrm>
          <a:prstGeom prst="rect">
            <a:avLst/>
          </a:prstGeom>
          <a:solidFill>
            <a:srgbClr val="F5F7FA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1671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~ 10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624328"/>
            <a:ext cx="548640" cy="457200"/>
          </a:xfrm>
          <a:prstGeom prst="rect">
            <a:avLst/>
          </a:prstGeom>
          <a:solidFill>
            <a:srgbClr val="00509D"/>
          </a:solidFill>
          <a:ln w="12700">
            <a:solidFill>
              <a:srgbClr val="00509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6243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1005840" y="2624328"/>
            <a:ext cx="25603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26243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관리가 결함을 검출할 능력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66160" y="2624328"/>
            <a:ext cx="10058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26243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~ 10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1417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 ·  ACTION PRIORITY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1783080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37760" y="1783080"/>
            <a:ext cx="502920" cy="566928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178308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577840" y="182880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77840" y="20574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조치 필수 · 미실행 사유 문서화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37760" y="2423160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0" y="2423160"/>
            <a:ext cx="502920" cy="566928"/>
          </a:xfrm>
          <a:prstGeom prst="rect">
            <a:avLst/>
          </a:prstGeom>
          <a:solidFill>
            <a:srgbClr val="FDC500"/>
          </a:solidFill>
          <a:ln w="12700">
            <a:solidFill>
              <a:srgbClr val="FDC5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24231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5577840" y="246888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577840" y="26974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조치 권고 · 효과 검토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37760" y="3063240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37760" y="3063240"/>
            <a:ext cx="502920" cy="566928"/>
          </a:xfrm>
          <a:prstGeom prst="rect">
            <a:avLst/>
          </a:prstGeom>
          <a:solidFill>
            <a:srgbClr val="5A8A3F"/>
          </a:solidFill>
          <a:ln w="12700">
            <a:solidFill>
              <a:srgbClr val="5A8A3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306324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5577840" y="310896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577840" y="33375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적용 · 모니터링 유지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3840480"/>
            <a:ext cx="73152" cy="77724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CASE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8580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도금두께 산포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 = </a:t>
            </a:r>
            <a:pPr indent="0" marL="0">
              <a:buNone/>
            </a:pPr>
            <a:r>
              <a:rPr lang="en-US" sz="1300" b="1" dirty="0">
                <a:solidFill>
                  <a:srgbClr val="C9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 = </a:t>
            </a:r>
            <a:pPr indent="0" marL="0">
              <a:buNone/>
            </a:pPr>
            <a:r>
              <a:rPr lang="en-US" sz="1300" b="1" dirty="0">
                <a:solidFill>
                  <a:srgbClr val="FDC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 = </a:t>
            </a:r>
            <a:pPr indent="0" marL="0">
              <a:buNone/>
            </a:pPr>
            <a:r>
              <a:rPr lang="en-US" sz="1300" b="1" dirty="0">
                <a:solidFill>
                  <a:srgbClr val="FDC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AP = </a:t>
            </a:r>
            <a:pPr indent="0" marL="0">
              <a:buNone/>
            </a:pPr>
            <a:r>
              <a:rPr lang="en-US" sz="1300" b="1" dirty="0">
                <a:solidFill>
                  <a:srgbClr val="C9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(즉시 조치 대상)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·  HDI PCB PLATING THICKNESS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D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Daeduck Electronics  ·  QM Group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FDC500"/>
          </a:solidFill>
          <a:ln w="12700">
            <a:solidFill>
              <a:srgbClr val="FDC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정류기 교체와 자동 전류제어 도입으로 도금두께 산포 71% 감소, AP가 High에서 Low로 전환되었다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9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AIAG-VDA FMEA Handbook 1st Ed. | Internal case: HDI PCB plating line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21945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463040"/>
            <a:ext cx="2194560" cy="5486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00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−71%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" y="2331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도금두께 산포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5420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±7μm → ±2μm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1463040"/>
            <a:ext cx="21945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1463040"/>
            <a:ext cx="2194560" cy="54864"/>
          </a:xfrm>
          <a:prstGeom prst="rect">
            <a:avLst/>
          </a:prstGeom>
          <a:solidFill>
            <a:srgbClr val="5A8A3F"/>
          </a:solidFill>
          <a:ln w="12700">
            <a:solidFill>
              <a:srgbClr val="5A8A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1600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8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1.67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2743200" y="2331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공정능력 Cpk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25420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0.42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21945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880360"/>
            <a:ext cx="2194560" cy="54864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17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H→L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457200" y="3749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Priority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9593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S=8 고정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0" y="2880360"/>
            <a:ext cx="21945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2880360"/>
            <a:ext cx="2194560" cy="54864"/>
          </a:xfrm>
          <a:prstGeom prst="rect">
            <a:avLst/>
          </a:prstGeom>
          <a:solidFill>
            <a:srgbClr val="00509D"/>
          </a:solidFill>
          <a:ln w="12700">
            <a:solidFill>
              <a:srgbClr val="00509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3017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50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−86%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2743200" y="3749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Q-Cost 절감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0" y="39593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₩12M → ₩1.7M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12080" y="1417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SEQUENCE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12080" y="1691640"/>
            <a:ext cx="3474720" cy="0"/>
          </a:xfrm>
          <a:prstGeom prst="line">
            <a:avLst/>
          </a:prstGeom>
          <a:noFill/>
          <a:ln w="25400">
            <a:solidFill>
              <a:srgbClr val="FDC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1-3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80760" y="1892808"/>
            <a:ext cx="36576" cy="228600"/>
          </a:xfrm>
          <a:prstGeom prst="rect">
            <a:avLst/>
          </a:prstGeom>
          <a:solidFill>
            <a:srgbClr val="00509D"/>
          </a:solidFill>
          <a:ln w="12700">
            <a:solidFill>
              <a:srgbClr val="00509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1783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정류기 1차 점검 및 노후 진단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12080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4-10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80760" y="2395728"/>
            <a:ext cx="36576" cy="228600"/>
          </a:xfrm>
          <a:prstGeom prst="rect">
            <a:avLst/>
          </a:prstGeom>
          <a:solidFill>
            <a:srgbClr val="00509D"/>
          </a:solidFill>
          <a:ln w="12700">
            <a:solidFill>
              <a:srgbClr val="00509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정류기 + 자동 전류제어 발주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0" y="2788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11-15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80760" y="2898648"/>
            <a:ext cx="36576" cy="228600"/>
          </a:xfrm>
          <a:prstGeom prst="rect">
            <a:avLst/>
          </a:prstGeom>
          <a:solidFill>
            <a:srgbClr val="00509D"/>
          </a:solidFill>
          <a:ln w="12700">
            <a:solidFill>
              <a:srgbClr val="00509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교체 설치 및 시운전 (DOE 진행)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12080" y="3291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16-21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80760" y="3401568"/>
            <a:ext cx="36576" cy="228600"/>
          </a:xfrm>
          <a:prstGeom prst="rect">
            <a:avLst/>
          </a:prstGeom>
          <a:solidFill>
            <a:srgbClr val="00509D"/>
          </a:solidFill>
          <a:ln w="12700">
            <a:solidFill>
              <a:srgbClr val="00509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양산 검증 · Cpk 1.67 달성 확인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12080" y="3794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22-30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80760" y="3904488"/>
            <a:ext cx="36576" cy="228600"/>
          </a:xfrm>
          <a:prstGeom prst="rect">
            <a:avLst/>
          </a:prstGeom>
          <a:solidFill>
            <a:srgbClr val="00509D"/>
          </a:solidFill>
          <a:ln w="12700">
            <a:solidFill>
              <a:srgbClr val="00509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PFMEA·Control Plan·SOP 일괄 갱신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spc="200" kern="0" dirty="0">
                <a:solidFill>
                  <a:srgbClr val="990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DAEDUCK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QM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 EDITION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48640"/>
            <a:ext cx="82296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90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TOOL  ·  PREVENTIVE QUALITY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FMEA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Still Matters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990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AI Era.</a:t>
            </a:r>
            <a:endParaRPr lang="en-US" sz="64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45720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57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AIAG-VDA 1st Edition은 RPN의 한계를 AP로 대체했다. 대덕전자 QM그룹은 본 교육을 통해 7단계 접근법과 PCB 도금 현장 사례를 전사 공유한다.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611880"/>
            <a:ext cx="2286000" cy="96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7033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37960" y="3904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QM PLANNING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4206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Daeduck Electronics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37960" y="44074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7B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3 · Bloomberg/FT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7B2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64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DAEDUCK ELECTRONICS  ·  Quality Management Group  ·  Internal Education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 01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spc="200" kern="0" dirty="0">
                <a:solidFill>
                  <a:srgbClr val="990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DAEDUCK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QM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48640"/>
            <a:ext cx="82296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90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SEVEN-STEP DOCTRINE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AIAG-VDA Restructured Risk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RPN의 시대는 끝났다. Action Priority가 그 자리를 대신한다.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shift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365760" cy="0"/>
          </a:xfrm>
          <a:prstGeom prst="line">
            <a:avLst/>
          </a:prstGeom>
          <a:noFill/>
          <a:ln w="25400">
            <a:solidFill>
              <a:srgbClr val="990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688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종전 RPN(S×O×D)은 보상오류 — 낮은 심각도가 높은 검출도를 가려주는 문제를 안고 있었다. 새 AP 방식은 S, O, D 조합별로 H/M/L을 결정함으로써 "치명적이지만 자주 일어나는" 항목을 우선 식별한다.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1965960"/>
          <a:ext cx="50292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828800"/>
                <a:gridCol w="1554480"/>
                <a:gridCol w="12801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8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8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8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8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0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&amp; Preparation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기획 · 준비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0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구조분석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0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기능분석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0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고장분석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0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리스크분석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0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최적화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0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 Documentation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문서화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B2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3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4343400"/>
            <a:ext cx="2743200" cy="365760"/>
          </a:xfrm>
          <a:prstGeom prst="rect">
            <a:avLst/>
          </a:prstGeom>
          <a:solidFill>
            <a:srgbClr val="990F3D"/>
          </a:solidFill>
          <a:ln w="12700">
            <a:solidFill>
              <a:srgbClr val="990F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"RPN → AP"  IS  THE  CORE  CHANGE.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7B29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864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DAEDUCK ELECTRONICS  ·  Quality Management Group  ·  Internal Education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 02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spc="200" kern="0" dirty="0">
                <a:solidFill>
                  <a:srgbClr val="990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DAEDUCK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QM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48640"/>
            <a:ext cx="82296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90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 EVENTS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Moments That Demand an Update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2606040" cy="73152"/>
          </a:xfrm>
          <a:prstGeom prst="rect">
            <a:avLst/>
          </a:prstGeom>
          <a:solidFill>
            <a:srgbClr val="990F3D"/>
          </a:solidFill>
          <a:ln w="12700">
            <a:solidFill>
              <a:srgbClr val="990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1051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990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80160" y="18562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신제품·신공정 개발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2606040" cy="0"/>
          </a:xfrm>
          <a:prstGeom prst="line">
            <a:avLst/>
          </a:prstGeom>
          <a:noFill/>
          <a:ln w="6350">
            <a:solidFill>
              <a:srgbClr val="C7B2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328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APQP 단계에서 D/PFMEA 신규 작성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691640"/>
            <a:ext cx="2606040" cy="73152"/>
          </a:xfrm>
          <a:prstGeom prst="rect">
            <a:avLst/>
          </a:prstGeom>
          <a:solidFill>
            <a:srgbClr val="990F3D"/>
          </a:solidFill>
          <a:ln w="12700">
            <a:solidFill>
              <a:srgbClr val="990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81051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990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069080" y="18562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고객 이슈 발생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46120" y="2468880"/>
            <a:ext cx="2606040" cy="0"/>
          </a:xfrm>
          <a:prstGeom prst="line">
            <a:avLst/>
          </a:prstGeom>
          <a:noFill/>
          <a:ln w="6350">
            <a:solidFill>
              <a:srgbClr val="C7B2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25328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 원인분석 후 FMEA 즉시 갱신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691640"/>
            <a:ext cx="2606040" cy="73152"/>
          </a:xfrm>
          <a:prstGeom prst="rect">
            <a:avLst/>
          </a:prstGeom>
          <a:solidFill>
            <a:srgbClr val="990F3D"/>
          </a:solidFill>
          <a:ln w="12700">
            <a:solidFill>
              <a:srgbClr val="990F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81051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990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58000" y="18562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변경사항 (4M)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35040" y="2468880"/>
            <a:ext cx="2606040" cy="0"/>
          </a:xfrm>
          <a:prstGeom prst="line">
            <a:avLst/>
          </a:prstGeom>
          <a:noFill/>
          <a:ln w="6350">
            <a:solidFill>
              <a:srgbClr val="C7B2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5328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설비·자재·방법·인원 변경 영향분석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154680"/>
            <a:ext cx="2606040" cy="73152"/>
          </a:xfrm>
          <a:prstGeom prst="rect">
            <a:avLst/>
          </a:prstGeom>
          <a:solidFill>
            <a:srgbClr val="990F3D"/>
          </a:solidFill>
          <a:ln w="12700">
            <a:solidFill>
              <a:srgbClr val="990F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7355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990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280160" y="331927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내부 부적합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2606040" cy="0"/>
          </a:xfrm>
          <a:prstGeom prst="line">
            <a:avLst/>
          </a:prstGeom>
          <a:noFill/>
          <a:ln w="6350">
            <a:solidFill>
              <a:srgbClr val="C7B2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9959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부적합·수율저하 발생 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46120" y="3154680"/>
            <a:ext cx="2606040" cy="73152"/>
          </a:xfrm>
          <a:prstGeom prst="rect">
            <a:avLst/>
          </a:prstGeom>
          <a:solidFill>
            <a:srgbClr val="990F3D"/>
          </a:solidFill>
          <a:ln w="12700">
            <a:solidFill>
              <a:srgbClr val="990F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327355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990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4069080" y="331927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반복 품질 이슈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246120" y="3931920"/>
            <a:ext cx="2606040" cy="0"/>
          </a:xfrm>
          <a:prstGeom prst="line">
            <a:avLst/>
          </a:prstGeom>
          <a:noFill/>
          <a:ln w="6350">
            <a:solidFill>
              <a:srgbClr val="C7B2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39959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 불량 재발 시 횡전개 검토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3154680"/>
            <a:ext cx="2606040" cy="73152"/>
          </a:xfrm>
          <a:prstGeom prst="rect">
            <a:avLst/>
          </a:prstGeom>
          <a:solidFill>
            <a:srgbClr val="990F3D"/>
          </a:solidFill>
          <a:ln w="12700">
            <a:solidFill>
              <a:srgbClr val="990F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327355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990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6858000" y="331927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법규·규제 변경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035040" y="3931920"/>
            <a:ext cx="2606040" cy="0"/>
          </a:xfrm>
          <a:prstGeom prst="line">
            <a:avLst/>
          </a:prstGeom>
          <a:noFill/>
          <a:ln w="6350">
            <a:solidFill>
              <a:srgbClr val="C7B2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39959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REACH·RoHS·IATF 개정 반영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7B2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864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DAEDUCK ELECTRONICS  ·  Quality Management Group  ·  Internal Education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 03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spc="200" kern="0" dirty="0">
                <a:solidFill>
                  <a:srgbClr val="990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DAEDUCK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QM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48640"/>
            <a:ext cx="82296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90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ARITHMETIC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Three Numbers Decide Everything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260604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83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i="1" dirty="0">
                <a:solidFill>
                  <a:srgbClr val="F58A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10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Severity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9900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5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심각도  ·  1—10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46120" y="1691640"/>
            <a:ext cx="260604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783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11000" dirty="0"/>
          </a:p>
        </p:txBody>
      </p:sp>
      <p:sp>
        <p:nvSpPr>
          <p:cNvPr id="17" name="Text 15"/>
          <p:cNvSpPr/>
          <p:nvPr/>
        </p:nvSpPr>
        <p:spPr>
          <a:xfrm>
            <a:off x="3246120" y="2743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Occurrence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29900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5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발생도  ·  1—10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1691640"/>
            <a:ext cx="260604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783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1000" dirty="0"/>
          </a:p>
        </p:txBody>
      </p:sp>
      <p:sp>
        <p:nvSpPr>
          <p:cNvPr id="21" name="Text 19"/>
          <p:cNvSpPr/>
          <p:nvPr/>
        </p:nvSpPr>
        <p:spPr>
          <a:xfrm>
            <a:off x="6035040" y="2743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29900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5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검출도  ·  1—10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solidFill>
            <a:srgbClr val="F58A7C"/>
          </a:solidFill>
          <a:ln w="12700">
            <a:solidFill>
              <a:srgbClr val="F58A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spc="300" kern="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ACTION  PRIORITY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0" y="3520440"/>
            <a:ext cx="914400" cy="320040"/>
          </a:xfrm>
          <a:prstGeom prst="rect">
            <a:avLst/>
          </a:prstGeom>
          <a:solidFill>
            <a:srgbClr val="990F3D"/>
          </a:solidFill>
          <a:ln w="12700">
            <a:solidFill>
              <a:srgbClr val="990F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520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3520440"/>
            <a:ext cx="914400" cy="320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520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06640" y="3520440"/>
            <a:ext cx="914400" cy="3200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3520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54864" cy="594360"/>
          </a:xfrm>
          <a:prstGeom prst="rect">
            <a:avLst/>
          </a:prstGeom>
          <a:solidFill>
            <a:srgbClr val="990F3D"/>
          </a:solidFill>
          <a:ln w="12700">
            <a:solidFill>
              <a:srgbClr val="990F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1148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도금두께 산포: </a:t>
            </a:r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S=8 · O=5 · D=4 → AP HIGH. </a:t>
            </a:r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심각도는 통제할 수 없다 — 발생도와 검출도를 동시에 낮추는 것이 유일한 길.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7B2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64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DAEDUCK ELECTRONICS  ·  Quality Management Group  ·  Internal Education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 04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spc="200" kern="0" dirty="0">
                <a:solidFill>
                  <a:srgbClr val="990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DAEDUCK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QM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48640"/>
            <a:ext cx="82296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90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STUDY  ·  HDI PCB PLATING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One Rectifier Cut Variance 71%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도금두께 산포를 ±7μm에서 ±2μm로. AP는 High에서 Low로.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3931920" cy="2743200"/>
          </a:xfrm>
          <a:prstGeom prst="rect">
            <a:avLst/>
          </a:prstGeom>
          <a:solidFill>
            <a:srgbClr val="FFF1E5"/>
          </a:solidFill>
          <a:ln w="6350">
            <a:solidFill>
              <a:srgbClr val="C7B2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90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3317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i="1" dirty="0">
                <a:solidFill>
                  <a:srgbClr val="990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±7</a:t>
            </a:r>
            <a:endParaRPr lang="en-US" sz="88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μm  도금두께 산포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3566160" cy="0"/>
          </a:xfrm>
          <a:prstGeom prst="line">
            <a:avLst/>
          </a:prstGeom>
          <a:noFill/>
          <a:ln w="6350">
            <a:solidFill>
              <a:srgbClr val="C7B2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828800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28800" y="4023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017520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17520" y="4023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4754880" y="1920240"/>
            <a:ext cx="3931920" cy="2743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3317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i="1" dirty="0">
                <a:solidFill>
                  <a:srgbClr val="F58A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±2</a:t>
            </a:r>
            <a:endParaRPr lang="en-US" sz="8800" dirty="0"/>
          </a:p>
        </p:txBody>
      </p:sp>
      <p:sp>
        <p:nvSpPr>
          <p:cNvPr id="26" name="Text 24"/>
          <p:cNvSpPr/>
          <p:nvPr/>
        </p:nvSpPr>
        <p:spPr>
          <a:xfrm>
            <a:off x="493776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μm  도금두께 산포  ·  Cpk 1.67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3749040"/>
            <a:ext cx="3566160" cy="0"/>
          </a:xfrm>
          <a:prstGeom prst="line">
            <a:avLst/>
          </a:prstGeom>
          <a:noFill/>
          <a:ln w="6350">
            <a:solidFill>
              <a:srgbClr val="5C5C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4023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126480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26480" y="4023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315200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0" y="4023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3434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0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200" dirty="0"/>
          </a:p>
        </p:txBody>
      </p:sp>
      <p:sp>
        <p:nvSpPr>
          <p:cNvPr id="35" name="Shape 3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7B2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64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DAEDUCK ELECTRONICS  ·  Quality Management Group  ·  Internal Education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 05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FMEA - 3 Corporate Design Patterns</dc:title>
  <dc:subject>PptxGenJS Presentation</dc:subject>
  <dc:creator>대덕전자 QM Group</dc:creator>
  <cp:lastModifiedBy>대덕전자 QM Group</cp:lastModifiedBy>
  <cp:revision>1</cp:revision>
  <dcterms:created xsi:type="dcterms:W3CDTF">2026-05-16T23:12:10Z</dcterms:created>
  <dcterms:modified xsi:type="dcterms:W3CDTF">2026-05-16T23:12:10Z</dcterms:modified>
</cp:coreProperties>
</file>