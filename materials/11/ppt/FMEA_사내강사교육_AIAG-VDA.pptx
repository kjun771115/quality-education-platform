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D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 ·  1st Edition  ·  Core Tool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사내강사 교육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고장모드 및 영향분석 (Failure Mode and Effects Analysis)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28800" cy="0"/>
          </a:xfrm>
          <a:prstGeom prst="line">
            <a:avLst/>
          </a:prstGeom>
          <a:noFill/>
          <a:ln w="381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제조 현장 사례 기반  ·  전사원 공통 교육 과정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148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대덕전자(주) 품질경영그룹    </a:t>
            </a:r>
            <a:pPr indent="0" marL="0">
              <a:buNone/>
            </a:pPr>
            <a:r>
              <a:rPr lang="en-US" sz="1100" b="1" dirty="0">
                <a:solidFill>
                  <a:srgbClr val="FFD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IATF 16949 · VDA Core Tool    </a:t>
            </a:r>
            <a:pPr indent="0" marL="0">
              <a:buNone/>
            </a:pPr>
            <a:r>
              <a:rPr lang="en-US" sz="1100" b="1" dirty="0">
                <a:solidFill>
                  <a:srgbClr val="FFD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임직원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640080" cy="548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417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FMEA란 무엇인가  ·  정의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17320" y="1984248"/>
            <a:ext cx="32004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30552"/>
            <a:ext cx="640080" cy="548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305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1305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FMEA의 목적과 배경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17320" y="2697480"/>
            <a:ext cx="32004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43784"/>
            <a:ext cx="640080" cy="548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437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284378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요구사항 (IATF 16949 · 횡전개)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17320" y="3410712"/>
            <a:ext cx="32004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57016"/>
            <a:ext cx="640080" cy="548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570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35570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적용 효과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417320" y="4123944"/>
            <a:ext cx="32004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417320"/>
            <a:ext cx="640080" cy="548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1417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적용 시점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32120" y="1984248"/>
            <a:ext cx="32004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130552"/>
            <a:ext cx="640080" cy="548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13055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21305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7 Step Approach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32120" y="2697480"/>
            <a:ext cx="32004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843784"/>
            <a:ext cx="640080" cy="548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84378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32120" y="284378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PCB 제조 적용 사례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532120" y="3410712"/>
            <a:ext cx="32004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557016"/>
            <a:ext cx="640080" cy="5486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5570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32120" y="35570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및 Q&amp;A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532120" y="4123944"/>
            <a:ext cx="32004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WHAT IS FMEA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FMEA란 무엇인가  ·  정의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3246120"/>
          </a:xfrm>
          <a:prstGeom prst="rect">
            <a:avLst/>
          </a:prstGeom>
          <a:solidFill>
            <a:srgbClr val="F4F7FB"/>
          </a:solidFill>
          <a:ln w="6350">
            <a:solidFill>
              <a:srgbClr val="D8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3246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 Mode and Effects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고장모드 및 영향분석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제품·공정에 잠재된 고장(Failure)을 사전에 식별하고, 그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원인(Cause)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영향(Effect)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분석하여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9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우선순위화(AP)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예방·검출 조치를 수립하는 체계적인 분석 기법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01600" dist="25400" dir="8100000">
              <a:srgbClr val="0B254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490472"/>
            <a:ext cx="594360" cy="59436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904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71500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 Mode  ·  고장모드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1783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의도대로 수행되지 않는 방식 (단선, 박리, 단락 등)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423160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01600" dist="25400" dir="8100000">
              <a:srgbClr val="0B2545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83480" y="2587752"/>
            <a:ext cx="594360" cy="59436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5877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1500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Effect  ·  영향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고장이 고객·후공정·최종사용자에게 미치는 결과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520440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101600" dist="25400" dir="8100000">
              <a:srgbClr val="0B254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3685032"/>
            <a:ext cx="594360" cy="59436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685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1500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Cause  ·  원인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고장모드를 유발하는 공정·설계상의 근본 메커니즘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PURPOSE &amp; 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FMEA의 목적과 배경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사후 대응이 아닌 </a:t>
            </a:r>
            <a:pPr algn="ctr" indent="0" marL="0">
              <a:buNone/>
            </a:pPr>
            <a:r>
              <a:rPr lang="en-US" sz="1800" b="1" i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예방(Prevention)</a:t>
            </a:r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으로 품질을 설계한다 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02336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40233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04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 고장의 사전 식별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전 단계에서 잠재 리스크를 발굴하여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시장·고객 유출을 차단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02336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240280"/>
            <a:ext cx="40233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404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우선순위 결정 (AP)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788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S·O·D 평가를 통해 자원 배분과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활동의 우선순위 결정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02336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74720"/>
            <a:ext cx="40233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지식의 축적·전수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공정·제품 노하우를 문서화하여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전체의 학습자산으로 보존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474720"/>
            <a:ext cx="402336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474720"/>
            <a:ext cx="40233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639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고객·법규 요구사항 충족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4023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IATF 16949, VDA, 자동차 OEM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CSR(고객특별요구사항) 대응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REQUIREMENTS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요구사항  ·  왜 반드시 해야 하는가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50292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IATF 16949 필수 요구사항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993392"/>
            <a:ext cx="82296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933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8.3.3.3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9476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특별특성(SC/CC) 식별 → FMEA 반영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05456"/>
            <a:ext cx="82296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0545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8.3.5.1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45973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DFMEA / PFMEA 설계 출력물 의무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82296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8.5.1.1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971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Plan은 PFMEA 출력 기반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529584"/>
            <a:ext cx="82296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295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10.2.3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34838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문제해결 시 FMEA 갱신 (횡전개 포함)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41648"/>
            <a:ext cx="82296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416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10.3.1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54480" y="399592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지속개선 → FMEA 효과성 검토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280160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280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횡전개 개선 (Lessons Learned)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1965960"/>
            <a:ext cx="228600" cy="228600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965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920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제품군·유사 공정에 동일 결함이 반복되지 않도록 수평 전개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2560320"/>
            <a:ext cx="228600" cy="228600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560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클레임/내부 부적합 → 동일 라인 및 유사 제품의 FMEA 일괄 검토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154680"/>
            <a:ext cx="228600" cy="228600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154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3108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Lessons Learned DB 구축 및 신규 FMEA 작성 시 입력 자료로 활용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46320" y="3749040"/>
            <a:ext cx="228600" cy="228600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749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703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VDA·OEM 감사 시 단일 사례 개선만으로는 부적합 판정 사례 다수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BENEFITS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적용 효과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"예방품질" 활동의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 도구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914400" cy="0"/>
          </a:xfrm>
          <a:prstGeom prst="line">
            <a:avLst/>
          </a:prstGeom>
          <a:noFill/>
          <a:ln w="381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517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설계·공정 단계에서 위험을 차단함으로써 발생하는 정량적·정성적 효과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325880"/>
            <a:ext cx="457200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325880"/>
            <a:ext cx="73152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426464"/>
            <a:ext cx="365760" cy="36576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품질비용(Q-Cost) 절감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18488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외부실패비용 감소, COPQ 절감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0" y="1984248"/>
            <a:ext cx="457200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984248"/>
            <a:ext cx="73152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084832"/>
            <a:ext cx="365760" cy="36576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2084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수율 향상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276856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초기 6M 변화점 리스크 사전 차단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0" y="2642616"/>
            <a:ext cx="457200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2642616"/>
            <a:ext cx="73152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2743200"/>
            <a:ext cx="365760" cy="36576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만족도 향상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93522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클레임 감소, OEM 신뢰 확보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0" y="3300984"/>
            <a:ext cx="457200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3300984"/>
            <a:ext cx="73152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401568"/>
            <a:ext cx="365760" cy="36576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0" y="3346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학습 자산화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5935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노하우의 형식지화 및 횡전개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0" y="3959352"/>
            <a:ext cx="4572000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959352"/>
            <a:ext cx="73152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43400" y="4059936"/>
            <a:ext cx="365760" cy="36576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4632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감사·인증 대응력 강화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42519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IATF·VDA 심사 적합성 확보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WHEN TO APPLY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적용 시점  ·  Trigger Events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트리거 발생 시 FMEA의 신규 작성 또는 개정(Revision)이 의무화됩니다.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2606040" cy="3200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신제품 / 신공정 개발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APQP 단계에서 D/PFMEA 신규 작성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6002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600200"/>
            <a:ext cx="2606040" cy="3200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이슈 발생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클레임·필드클레임 → 원인분석 후 FMEA 갱신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600200"/>
            <a:ext cx="2606040" cy="3200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변경사항 발생 (4M)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24688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설비·자재·방법·인원 변경 시 영향분석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54680"/>
            <a:ext cx="2606040" cy="3200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 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이슈 / 부적합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부적합·수율저하 발생 시 갱신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315468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154680"/>
            <a:ext cx="2606040" cy="3200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 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품질이슈 (반복불량)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2900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동일/유사 불량 재발 시 횡전개 검토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315468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3154680"/>
            <a:ext cx="2606040" cy="3200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TRIGGER 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· 규제 변경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17920" y="4023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REACH·RoHS·IATF 개정 등 규제 반영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METHODOLOGY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 ·  7 Step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1st Edition은 기존 RPN 기반에서 7단계 구조적 접근법과 AP(Action Priority)로 전환되었습니다.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4300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기획·준비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Planning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Preparation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55064" y="1828800"/>
            <a:ext cx="114300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55064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655064" y="2468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00784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Structure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52928" y="1828800"/>
            <a:ext cx="114300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52928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852928" y="2468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기능분석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98648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050792" y="1828800"/>
            <a:ext cx="114300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050792" y="2468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고장분석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96512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48656" y="1828800"/>
            <a:ext cx="114300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248656" y="2468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리스크분석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94376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46520" y="1828800"/>
            <a:ext cx="1143000" cy="13716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446520" y="2468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Optimization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644384" y="1828800"/>
            <a:ext cx="1143000" cy="13716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44384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644384" y="2468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문서화·결과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90104" y="2788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29184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Analysis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050792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 Analysis &amp; Risk Mitigation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Communication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4F7FB"/>
          </a:solidFill>
          <a:ln w="6350">
            <a:solidFill>
              <a:srgbClr val="D8E1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7947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변화 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RPN(=S×O×D) → AP(Action Priority, H/M/L)  |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구조·기능·고장의 트리(Tree) 분석 강화  |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Foundation FMEA / Family FMEA 개념 도입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STEP-BY-STEP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 ·  기획 및 준비 (Planning &amp; Preparation)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206240" cy="3337560"/>
          </a:xfrm>
          <a:prstGeom prst="rect">
            <a:avLst/>
          </a:prstGeom>
          <a:solidFill>
            <a:srgbClr val="F4F7FB"/>
          </a:solidFill>
          <a:ln w="6350">
            <a:solidFill>
              <a:srgbClr val="D8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 (Purpose)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프로젝트의 5T(Intent, Timing, Team, Task, Tool)를 정의하고 분석 범위·기준을 명확화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산출물 (Deliverables)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프로젝트 차터 · Scope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 (Cross-Functional Team)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경계(Boundary) 정의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고객·법규 요구사항 입력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FMEA(Foundation) 검토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840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적용 사례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HDI PCB 도금 공정 PFMEA 신규 작성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2240280"/>
            <a:ext cx="914400" cy="329184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22402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도금두께 산포 관리, AP-H 항목 제로화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83480" y="2660904"/>
            <a:ext cx="914400" cy="329184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6609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6609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라인 양산 6주 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3081528"/>
            <a:ext cx="914400" cy="329184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0815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30815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공정·설비·QA·연구소·구매 (CFT)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3502152"/>
            <a:ext cx="914400" cy="329184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5021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3502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도금 전공정 PFMEA 범위 설정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3922776"/>
            <a:ext cx="914400" cy="329184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9227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39227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Form Sheet + 사내 Q-System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STEP-BY-STEP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 ·  구조분석 (Structure Analysis)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공정/제품을 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3계층 Structure Tree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분해하여 분석 단위와 인터페이스를 명확화합니다.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64008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62432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Item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86207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시스템 전체 (PCB 제조라인)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64008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461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26440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Step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50215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 공정 (전기도금 공정)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64008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862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90448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Work Element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1422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4M 요소 (전류밀도/시간/온도/약품)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280160"/>
            <a:ext cx="3840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사례  ·  전기도금 공정 Tree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40680" y="1874520"/>
            <a:ext cx="2651760" cy="41148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제조라인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766560" y="2286000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0680" y="2514600"/>
            <a:ext cx="26517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전기도금 공정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2926080"/>
            <a:ext cx="0" cy="182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3108960"/>
            <a:ext cx="28346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3108960"/>
            <a:ext cx="0" cy="13716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3246120"/>
            <a:ext cx="640080" cy="411480"/>
          </a:xfrm>
          <a:prstGeom prst="rect">
            <a:avLst/>
          </a:prstGeom>
          <a:solidFill>
            <a:srgbClr val="F4F7FB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246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전류밀도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0" y="3108960"/>
            <a:ext cx="0" cy="13716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3246120"/>
            <a:ext cx="640080" cy="411480"/>
          </a:xfrm>
          <a:prstGeom prst="rect">
            <a:avLst/>
          </a:prstGeom>
          <a:solidFill>
            <a:srgbClr val="F4F7FB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3246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도금시간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12280" y="3108960"/>
            <a:ext cx="0" cy="13716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3246120"/>
            <a:ext cx="640080" cy="411480"/>
          </a:xfrm>
          <a:prstGeom prst="rect">
            <a:avLst/>
          </a:prstGeom>
          <a:solidFill>
            <a:srgbClr val="F4F7FB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246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용액온도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89520" y="3108960"/>
            <a:ext cx="0" cy="13716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69480" y="3246120"/>
            <a:ext cx="640080" cy="411480"/>
          </a:xfrm>
          <a:prstGeom prst="rect">
            <a:avLst/>
          </a:prstGeom>
          <a:solidFill>
            <a:srgbClr val="F4F7FB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3246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약품농도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Process Work Element (4M)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83480" y="4114800"/>
            <a:ext cx="3657600" cy="411480"/>
          </a:xfrm>
          <a:prstGeom prst="rect">
            <a:avLst/>
          </a:prstGeom>
          <a:solidFill>
            <a:srgbClr val="FFF3DC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4114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도금두께 산포의 원인 요소가 명확히 분리됨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STEP-BY-STEP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 ·  기능분석 (Function Analysis)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계층에 "기능"을 부여하여 "무엇을 해야 하는가"를 정의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기능은 「동사 + 명사 + 정량 요구」 형태로 측정 가능하게 기술합니다.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206240" cy="2331720"/>
          </a:xfrm>
          <a:prstGeom prst="rect">
            <a:avLst/>
          </a:prstGeom>
          <a:solidFill>
            <a:srgbClr val="F4F7FB"/>
          </a:solidFill>
          <a:ln w="6350">
            <a:solidFill>
              <a:srgbClr val="D8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기술 원칙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가능한 사양/허용범위 포함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표현 (~을 ~한다)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방법과 기준이 명확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기능과 하위 기능 트리 일관성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요구(CTQ)와 직접 연결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사례  ·  도금공정 기능 매핑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37360"/>
          <a:ext cx="3840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 요소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(Function)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PCB 라인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사양에 적합한 다층 PCB를 양산한다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전기도금 공정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회로면에 Cu를 25±3μm로 균일 도금한다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전류밀도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2.0±0.2 A/dm² 범위로 인가한다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용액온도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도금조 온도를 25±2°C로 유지한다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약품농도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 이온농도를 18±2 g/L로 관리한다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STEP-BY-STEP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 ·  고장분석 (Failure Analysis)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206240" cy="3337560"/>
          </a:xfrm>
          <a:prstGeom prst="rect">
            <a:avLst/>
          </a:prstGeom>
          <a:solidFill>
            <a:srgbClr val="F4F7FB"/>
          </a:solidFill>
          <a:ln w="6350">
            <a:solidFill>
              <a:srgbClr val="D8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고장의 3요소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 Effect (영향)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기능/고객에 미치는 결과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697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 Mode (고장모드)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대상이 기능을 잃는 방식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 Cause (원인)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고장모드를 유발하는 4M 요인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사례  ·  도금두께 편차 Failure Chain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82880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828800"/>
            <a:ext cx="64008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2240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15000" y="1874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전류밀도 불균일 (정류기 노후)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6060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274320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743200"/>
            <a:ext cx="640080" cy="777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37760" y="3154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고장모드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1500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도금두께 산포 발생 (&gt;±5μm)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352044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37760" y="365760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37760" y="3657600"/>
            <a:ext cx="640080" cy="77724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703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937760" y="4069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15000" y="3703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BGA 솔더링 불량 / 고객 ASSY 클레임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STEP-BY-STEP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 ·  리스크분석 (Risk Analysis)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Severity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심각도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 미치는 영향의 크기 (1~10)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417320"/>
            <a:ext cx="640080" cy="6400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6052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Occurrence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6052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원인이 발생하고 고장모드로 진행될 빈도 (1~10)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76200" dist="25400" dir="8100000">
              <a:srgbClr val="0B2545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417320"/>
            <a:ext cx="640080" cy="6400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944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관리수단이 결함을 검출하는 능력 (1~10)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F4F7FB"/>
          </a:solidFill>
          <a:ln w="6350">
            <a:solidFill>
              <a:srgbClr val="D8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(Action Priority)  ·  AIAG-VDA 핵심 변경점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200400"/>
            <a:ext cx="26060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30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371600" y="33649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Priority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필수 · 미실행시 사유 문서화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3200400"/>
            <a:ext cx="26060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3383280"/>
            <a:ext cx="502920" cy="5029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114800" y="33649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Medium Priority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2044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권고 · 검토 후 결정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3200400"/>
            <a:ext cx="260604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338328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858000" y="33649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 Priority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선택 · 모니터링 유지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9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사례 : 도금두께 산포 → S=8, O=5, D=4 → AP-H (즉시 조치)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STEP-BY-STEP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 ·  최적화 (Optimization)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206240" cy="3337560"/>
          </a:xfrm>
          <a:prstGeom prst="rect">
            <a:avLst/>
          </a:prstGeom>
          <a:solidFill>
            <a:srgbClr val="F4F7FB"/>
          </a:solidFill>
          <a:ln w="6350">
            <a:solidFill>
              <a:srgbClr val="D8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개선의 우선순위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94360" cy="777240"/>
          </a:xfrm>
          <a:prstGeom prst="rect">
            <a:avLst/>
          </a:prstGeom>
          <a:solidFill>
            <a:srgbClr val="C930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Severity 저감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설계/공정 변경으로 영향 자체를 줄임 (가장 효과적)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594360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2788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Occurrence 저감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제거 · 예방관리(Prevention Control) 강화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59436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37160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Detection 향상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검출관리(Detection Control) 강화 (마지막 수단)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사례  ·  개선 전후 비교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828800"/>
            <a:ext cx="38404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30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874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3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2103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정류기 노후 → 전류밀도 불균일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도금두께 산포 ±7μm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O=5, D=4, AP=High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127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46320" y="3337560"/>
            <a:ext cx="38404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3611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정류기 교체 + 자동 전류제어 도입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도금두께 산포 ±2μm (Cpk 1.67)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O=2, D=3, AP=Low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STEP-BY-STEP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  ·  결과 문서화 (Results Documentation)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 Communication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분석 결과를 조직 내·외부에 전달하여 후속 활동(Control Plan, 작업표준)을 견인합니다.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206240" cy="2194560"/>
          </a:xfrm>
          <a:prstGeom prst="rect">
            <a:avLst/>
          </a:prstGeom>
          <a:solidFill>
            <a:srgbClr val="F4F7FB"/>
          </a:solidFill>
          <a:ln w="6350">
            <a:solidFill>
              <a:srgbClr val="D8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산출물 / 연계 문서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PFMEA Form Sheet (AIAG-VDA 양식)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 (CP) - 관리계획서 갱신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작업표준서(SOP) · 검사기준서 반영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특별특성 List (SC/CC) 업데이트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Lessons Learned · 횡전개 보고서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 → CP → SOP  연계 흐름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182880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947672"/>
            <a:ext cx="411480" cy="4114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947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2356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PFMEA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21579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특별특성·관리항목 식별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5080" y="248716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60604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2724912"/>
            <a:ext cx="411480" cy="4114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2935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관리방법·주기·기록 정의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326440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38328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3502152"/>
            <a:ext cx="411480" cy="4114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작업표준 / 검사기준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23560" y="3712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실행·관리 적용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변경발생·이슈발생 시 ① 로 되돌아가는 폐쇄루프(Closed-loop) 유지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CASE 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PCB 종합사례  ·  도금두께 편차 PFMEA 1-Line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7단계 분석 결과를 AIAG-VDA Form Sheet 한 행으로 종합하면 다음과 같습니다.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1188720"/>
                <a:gridCol w="320040"/>
                <a:gridCol w="1097280"/>
                <a:gridCol w="1188720"/>
                <a:gridCol w="320040"/>
                <a:gridCol w="1371600"/>
                <a:gridCol w="320040"/>
                <a:gridCol w="658368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구조분석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기능분석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고장영향(FE)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고장모드(FM)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원인(FC)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검출관리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302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전기도금공정 / 전류밀도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 25±3μm 균일 도금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BGA 솔더링 불량 / 고객 라인스톱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302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도금두께 산포 ±7μm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정류기 노후 → 전류 불균일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0A5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샘플 두께검사 (X-ray, 2H/회)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0A5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9302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(개선 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302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산포 ±2μm (Cpk 1.67)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정류기 교체 + 자동 전류제어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Inline 두께 100% 측정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4F7FB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Takeaway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Severity는 동일해도 </a:t>
            </a:r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O와 D를 동시에 낮춤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으로써 AP가 H → L로 이동. 예방·검출 관리를 함께 강화한 것이 핵심.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정리  ·  핵심 메시지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 | QM Group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FMEA는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문서가 아니라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예방활동 그 자체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1371600" cy="0"/>
          </a:xfrm>
          <a:prstGeom prst="line">
            <a:avLst/>
          </a:prstGeom>
          <a:noFill/>
          <a:ln w="381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Document  ·  Cross-Functional  ·  Lessons Learned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84048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435608"/>
            <a:ext cx="329184" cy="32918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35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1325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7단계를 순서대로 적용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1965960"/>
            <a:ext cx="384048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2075688"/>
            <a:ext cx="329184" cy="32918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RPN이 아닌 AP(H/M/L)로 우선순위 결정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384048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2715768"/>
            <a:ext cx="329184" cy="32918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 → O → D 순으로 개선 (Severity 우선)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246120"/>
            <a:ext cx="384048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3355848"/>
            <a:ext cx="329184" cy="32918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355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변경·이슈 발생 시 반드시 갱신 및 횡전개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886200"/>
            <a:ext cx="3840480" cy="54864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3995928"/>
            <a:ext cx="329184" cy="329184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3886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 · 작업표준과 연계해야 효력 발생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AIAG-VDA FMEA 1st Edition  |  Daeduck Electronics QM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5528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381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토론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대덕전자(주) 품질경영그룹  |  FMEA 사내강사 교육 자료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FMEA 사내강사 교육 - AIAG-VDA 1st Edition</dc:title>
  <dc:subject>PptxGenJS Presentation</dc:subject>
  <dc:creator>대덕전자 QM Group</dc:creator>
  <cp:lastModifiedBy>대덕전자 QM Group</cp:lastModifiedBy>
  <cp:revision>1</cp:revision>
  <dcterms:created xsi:type="dcterms:W3CDTF">2026-05-16T22:55:42Z</dcterms:created>
  <dcterms:modified xsi:type="dcterms:W3CDTF">2026-05-16T22:55:42Z</dcterms:modified>
</cp:coreProperties>
</file>